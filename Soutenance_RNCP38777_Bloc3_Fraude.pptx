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(15 sec) - Slide d'accueil. Annoncer le projet et le pattern Kappa. Le jury voit le titre et identifie immediatement l'architecture moderne.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(45 sec) - Contextualiser l'enjeu metier et les 2 besoins distincts. Souligner que c'est ce double besoin qui justifie une architecture pipeline (et pas un simple script).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(60 sec) - Coeur de la presentation. Pointer les 3 zones : Source / Processing / Consumption. Insister sur le pattern Kappa (un seul pipeline, replay via Kafka, vs Lambda qui dupliquerait).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(60 sec) - Detail technique. 4 blocs principaux. Insister sur producer (validation Pydantic + RGPD) et la separation des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 (45 sec) - ML + qualite. Insister sur le no-train-serve-skew (meme code feature engineering a l'entrainement et a l'inference) et sur la DLQ qui isole les donnees corrompues.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6 (60 sec) - Recap des 5 competences puis BASCULE EN DEMO LIVE. Montrer le dashboard Streamlit (KPIs en direct), Kafka UI (topics qui se remplissent), et la requete SQL des fraudes detectees. Compte 30-45 sec de demo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7 (30 sec + Q/R 15 min) - Synthese et perspectives. Mentionner perspectives PROACTIVEMENT pour desamorcer les questions sur le scope. Conclure sur 'Merci' et inviter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73152" cy="146304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36576" cy="146304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Pipeline de detection de fraude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Architecture Kappa  -  Streaming temps reel sur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0BACC"/>
                </a:solidFill>
                <a:latin typeface="Calibri"/>
              </a:rPr>
              <a:t>Pour la prediction de paiements frauduleux par carte bancaire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023360"/>
            <a:ext cx="7132320" cy="36576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RNCP 38777  -  Bloc 3  -  Niveau 7 (Bac+5)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Sebastien Codron  -  Jedha Bootcamp  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La fraude par carte bancaire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787"/>
                </a:solidFill>
                <a:latin typeface="Calibri"/>
              </a:rPr>
              <a:t>Un enjeu de plus d'un milliard d'euros par an en Europe (BCE 2019)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08C00"/>
                </a:solidFill>
                <a:latin typeface="Calibri"/>
              </a:rPr>
              <a:t>1+ Mds 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B3D"/>
                </a:solidFill>
                <a:latin typeface="Calibri"/>
              </a:rPr>
              <a:t>Perte annuelle 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787"/>
                </a:solidFill>
                <a:latin typeface="Calibri"/>
              </a:rPr>
              <a:t>Banque Centrale Europeenne, 2019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7160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73152" cy="128016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A085"/>
                </a:solidFill>
                <a:latin typeface="Calibri"/>
              </a:rPr>
              <a:t>0,39 %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B3D"/>
                </a:solidFill>
                <a:latin typeface="Calibri"/>
              </a:rPr>
              <a:t>Taux de fraude reel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787"/>
                </a:solidFill>
                <a:latin typeface="Calibri"/>
              </a:rPr>
              <a:t>Sur 555 719 transactions analysees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73152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087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&lt; 5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B3D"/>
                </a:solidFill>
                <a:latin typeface="Calibri"/>
              </a:rPr>
              <a:t>Latence de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787"/>
                </a:solidFill>
                <a:latin typeface="Calibri"/>
              </a:rPr>
              <a:t>Du paiement jusqu'a l'alerte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08C00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108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Notification immediate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204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des qu'une fraude est detectee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Streaming - hot path Kafka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Webhook (Discord, SMTP)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Latence visible : &lt; 5 secondes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2926080"/>
            <a:ext cx="4023360" cy="1554480"/>
          </a:xfrm>
          <a:prstGeom prst="roundRect">
            <a:avLst>
              <a:gd name="adj" fmla="val 5000"/>
            </a:avLst>
          </a:prstGeom>
          <a:solidFill>
            <a:srgbClr val="14A085"/>
          </a:solidFill>
          <a:ln>
            <a:solidFill>
              <a:srgbClr val="14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063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108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Rapport quotidien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5204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des paiements et fraudes de la veille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8862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Agregation SQL sur Postgres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Rapport JSON + email automatique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Lance par cron quotidien (6h)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787"/>
                </a:solidFill>
                <a:latin typeface="Calibri"/>
              </a:rPr>
              <a:t>Sebastien Codron  -  RNCP 38777 Bloc 3  -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8508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B7787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Architecture Kappa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787"/>
                </a:solidFill>
                <a:latin typeface="Calibri"/>
              </a:rPr>
              <a:t>Pipeline 100 % streaming sur Kafka  -  replay possible via les offsets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6583680" cy="3574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787"/>
                </a:solidFill>
                <a:latin typeface="Calibri"/>
              </a:rPr>
              <a:t>Sebastien Codron  -  RNCP 38777 Bloc 3  -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8508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B7787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Stack technique  -  Kafka au coeur du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787"/>
                </a:solidFill>
                <a:latin typeface="Calibri"/>
              </a:rPr>
              <a:t>Producer  /  3 topics  /  3 consumers paralleles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20116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2011680" cy="64008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011680" cy="2286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ingestion + RGPD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54864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Pull API toutes les 6 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15768"/>
            <a:ext cx="54864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Validation Pydantic stricte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18688"/>
            <a:ext cx="54864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Hash SHA-256 cc_num (RGPD)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21608"/>
            <a:ext cx="54864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Retry expo + DLQ topic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96312" y="1325880"/>
            <a:ext cx="20116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96312" y="1325880"/>
            <a:ext cx="2011680" cy="640080"/>
          </a:xfrm>
          <a:prstGeom prst="roundRect">
            <a:avLst>
              <a:gd name="adj" fmla="val 18000"/>
            </a:avLst>
          </a:prstGeom>
          <a:solidFill>
            <a:srgbClr val="E08C00"/>
          </a:solidFill>
          <a:ln>
            <a:solidFill>
              <a:srgbClr val="E0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96312" y="1737360"/>
            <a:ext cx="2011680" cy="228600"/>
          </a:xfrm>
          <a:prstGeom prst="rect">
            <a:avLst/>
          </a:prstGeom>
          <a:solidFill>
            <a:srgbClr val="E08C00"/>
          </a:solidFill>
          <a:ln>
            <a:solidFill>
              <a:srgbClr val="E0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1371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 Topics Kafka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bus de messages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33472" y="2212848"/>
            <a:ext cx="54864" cy="54864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2103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raw-transactions (bruts)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33472" y="2715768"/>
            <a:ext cx="54864" cy="54864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2606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fraud-predictions (scores)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33472" y="3218688"/>
            <a:ext cx="54864" cy="54864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3108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dlq-raw (quarantaine)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33472" y="3721608"/>
            <a:ext cx="54864" cy="54864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Replay via offsets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1325880"/>
            <a:ext cx="20116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26864" y="1325880"/>
            <a:ext cx="2011680" cy="640080"/>
          </a:xfrm>
          <a:prstGeom prst="roundRect">
            <a:avLst>
              <a:gd name="adj" fmla="val 18000"/>
            </a:avLst>
          </a:prstGeom>
          <a:solidFill>
            <a:srgbClr val="14A085"/>
          </a:solidFill>
          <a:ln>
            <a:solidFill>
              <a:srgbClr val="14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26864" y="1737360"/>
            <a:ext cx="2011680" cy="228600"/>
          </a:xfrm>
          <a:prstGeom prst="rect">
            <a:avLst/>
          </a:prstGeom>
          <a:solidFill>
            <a:srgbClr val="14A085"/>
          </a:solidFill>
          <a:ln>
            <a:solidFill>
              <a:srgbClr val="14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4024" y="1371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Predictor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4024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scoring 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64024" y="2212848"/>
            <a:ext cx="54864" cy="54864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2103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Charge model.pkl (joblib)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4024" y="2715768"/>
            <a:ext cx="54864" cy="54864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01184" y="2606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Feature engineering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64024" y="3218688"/>
            <a:ext cx="54864" cy="54864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3108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RandomForest balanced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64024" y="3721608"/>
            <a:ext cx="54864" cy="54864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1184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Latence sous 5 secondes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57416" y="1325880"/>
            <a:ext cx="20116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757416" y="1325880"/>
            <a:ext cx="2011680" cy="640080"/>
          </a:xfrm>
          <a:prstGeom prst="roundRect">
            <a:avLst>
              <a:gd name="adj" fmla="val 18000"/>
            </a:avLst>
          </a:prstGeom>
          <a:solidFill>
            <a:srgbClr val="222B3D"/>
          </a:solidFill>
          <a:ln>
            <a:solidFill>
              <a:srgbClr val="22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7416" y="1737360"/>
            <a:ext cx="2011680" cy="228600"/>
          </a:xfrm>
          <a:prstGeom prst="rect">
            <a:avLst/>
          </a:prstGeom>
          <a:solidFill>
            <a:srgbClr val="222B3D"/>
          </a:solidFill>
          <a:ln>
            <a:solidFill>
              <a:srgbClr val="22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1371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Storage + Alerter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4576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persistance + notif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94576" y="2212848"/>
            <a:ext cx="54864" cy="54864"/>
          </a:xfrm>
          <a:prstGeom prst="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31736" y="2103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Postgres UPSERT idempotent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94576" y="2715768"/>
            <a:ext cx="54864" cy="54864"/>
          </a:xfrm>
          <a:prstGeom prst="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31736" y="2606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Webhook Discord / SMTP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94576" y="3218688"/>
            <a:ext cx="54864" cy="54864"/>
          </a:xfrm>
          <a:prstGeom prst="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31736" y="3108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Rate-limit 10 alertes/min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94576" y="3721608"/>
            <a:ext cx="54864" cy="54864"/>
          </a:xfrm>
          <a:prstGeom prst="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31736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B3D"/>
                </a:solidFill>
                <a:latin typeface="Calibri"/>
              </a:rPr>
              <a:t>Streamlit dashboard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787"/>
                </a:solidFill>
                <a:latin typeface="Calibri"/>
              </a:rPr>
              <a:t>Sebastien Codron  -  RNCP 38777 Bloc 3  - 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48508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B7787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Modele ML et qualite des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787"/>
                </a:solidFill>
                <a:latin typeface="Calibri"/>
              </a:rPr>
              <a:t>Pipeline scikit-learn unique  -  no train-serve skew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320040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Modele de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787"/>
                </a:solidFill>
                <a:latin typeface="Calibri"/>
              </a:rPr>
              <a:t>RandomForest avec class_weight balanced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A085"/>
                </a:solidFill>
                <a:latin typeface="Calibri"/>
              </a:rP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402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amt, category, gender, hour, day_of_week, is_night, age, distance haversine, log(amt)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A085"/>
                </a:solidFill>
                <a:latin typeface="Calibri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889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FraudFeatureBuilder + ColumnTransformer + Classifier dans un seul Pipeline scikit-learn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A085"/>
                </a:solidFill>
                <a:latin typeface="Calibri"/>
              </a:rPr>
              <a:t>Metriques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375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PR-AUC, F1, Recall  -  adaptees au desequilibre 0,39 % de fraudes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A085"/>
                </a:solidFill>
                <a:latin typeface="Calibri"/>
              </a:rPr>
              <a:t>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862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MLflow (experiences + registry) sur backend MinIO S3-compatible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280160"/>
            <a:ext cx="73152" cy="320040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Qualite et robustesse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787"/>
                </a:solidFill>
                <a:latin typeface="Calibri"/>
              </a:rPr>
              <a:t>Pydantic + DLQ + idempotence + 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240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8C00"/>
                </a:solidFill>
                <a:latin typeface="Calibri"/>
              </a:rPr>
              <a:t>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402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Validation Pydantic stricte sur 21 champs  -  rejets visibles dans dlq-raw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788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8C00"/>
                </a:solidFill>
                <a:latin typeface="Calibri"/>
              </a:rPr>
              <a:t>DLQ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7889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Topic dedie pour les messages corrompus  -  jamais en base de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337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8C00"/>
                </a:solidFill>
                <a:latin typeface="Calibri"/>
              </a:rPr>
              <a:t>Idempotence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3375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UPSERT Postgres sur trans_num  -  pas de doublons meme apres replay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886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8C00"/>
                </a:solidFill>
                <a:latin typeface="Calibri"/>
              </a:rPr>
              <a:t>Retry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8862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Backoff exponentiel sur fetch API et publication Kafka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787"/>
                </a:solidFill>
                <a:latin typeface="Calibri"/>
              </a:rPr>
              <a:t>Sebastien Codron  -  RNCP 38777 Bloc 3  -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8508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B7787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Pipeline en production  -  5 competences demontrees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787"/>
                </a:solidFill>
                <a:latin typeface="Calibri"/>
              </a:rPr>
              <a:t>Demo live disponible  -  localhost:8501 (dashboard) et localhost:8080 (Kafka UI)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6276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627632" cy="502920"/>
          </a:xfrm>
          <a:prstGeom prst="roundRect">
            <a:avLst>
              <a:gd name="adj" fmla="val 18000"/>
            </a:avLst>
          </a:prstGeom>
          <a:solidFill>
            <a:srgbClr val="E08C00"/>
          </a:solidFill>
          <a:ln>
            <a:solidFill>
              <a:srgbClr val="E0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1627632" cy="182880"/>
          </a:xfrm>
          <a:prstGeom prst="rect">
            <a:avLst/>
          </a:prstGeom>
          <a:solidFill>
            <a:srgbClr val="E08C00"/>
          </a:solidFill>
          <a:ln>
            <a:solidFill>
              <a:srgbClr val="E0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Temps reel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67128"/>
            <a:ext cx="45720" cy="4572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740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Kafka topics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78608"/>
            <a:ext cx="45720" cy="4572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6888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Polling 6 sec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90088"/>
            <a:ext cx="45720" cy="4572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8036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Latence &lt; 5s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12264" y="1371600"/>
            <a:ext cx="16276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12264" y="1371600"/>
            <a:ext cx="1627632" cy="50292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12264" y="1691640"/>
            <a:ext cx="1627632" cy="1828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2264" y="141732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12264" y="1572768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ETL streaming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9424" y="2167128"/>
            <a:ext cx="45720" cy="45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205740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Producer extract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9424" y="2578608"/>
            <a:ext cx="45720" cy="45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9152" y="246888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Consumer transform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9424" y="2990088"/>
            <a:ext cx="45720" cy="45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288036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Postgres 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3048" y="1371600"/>
            <a:ext cx="16276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13048" y="1371600"/>
            <a:ext cx="1627632" cy="502920"/>
          </a:xfrm>
          <a:prstGeom prst="roundRect">
            <a:avLst>
              <a:gd name="adj" fmla="val 18000"/>
            </a:avLst>
          </a:prstGeom>
          <a:solidFill>
            <a:srgbClr val="14A085"/>
          </a:solidFill>
          <a:ln>
            <a:solidFill>
              <a:srgbClr val="14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13048" y="1691640"/>
            <a:ext cx="1627632" cy="182880"/>
          </a:xfrm>
          <a:prstGeom prst="rect">
            <a:avLst/>
          </a:prstGeom>
          <a:solidFill>
            <a:srgbClr val="14A085"/>
          </a:solidFill>
          <a:ln>
            <a:solidFill>
              <a:srgbClr val="14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141732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C3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1572768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Automatisation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8" y="2167128"/>
            <a:ext cx="45720" cy="4572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59936" y="205740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Docker Compose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0208" y="2578608"/>
            <a:ext cx="45720" cy="4572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6" y="246888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1 commande 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50208" y="2990088"/>
            <a:ext cx="45720" cy="4572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59936" y="288036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Idempotence offsets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13832" y="1371600"/>
            <a:ext cx="16276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513832" y="1371600"/>
            <a:ext cx="1627632" cy="502920"/>
          </a:xfrm>
          <a:prstGeom prst="roundRect">
            <a:avLst>
              <a:gd name="adj" fmla="val 18000"/>
            </a:avLst>
          </a:prstGeom>
          <a:solidFill>
            <a:srgbClr val="222B3D"/>
          </a:solidFill>
          <a:ln>
            <a:solidFill>
              <a:srgbClr val="22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13832" y="1691640"/>
            <a:ext cx="1627632" cy="182880"/>
          </a:xfrm>
          <a:prstGeom prst="rect">
            <a:avLst/>
          </a:prstGeom>
          <a:solidFill>
            <a:srgbClr val="222B3D"/>
          </a:solidFill>
          <a:ln>
            <a:solidFill>
              <a:srgbClr val="222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13832" y="141732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C4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3832" y="1572768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50992" y="2167128"/>
            <a:ext cx="45720" cy="45720"/>
          </a:xfrm>
          <a:prstGeom prst="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205740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Streamlit live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2578608"/>
            <a:ext cx="45720" cy="45720"/>
          </a:xfrm>
          <a:prstGeom prst="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246888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Kafka UI lag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50992" y="2990088"/>
            <a:ext cx="45720" cy="45720"/>
          </a:xfrm>
          <a:prstGeom prst="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288036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Hash RGPD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14616" y="1371600"/>
            <a:ext cx="16276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0B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214616" y="1371600"/>
            <a:ext cx="1627632" cy="502920"/>
          </a:xfrm>
          <a:prstGeom prst="roundRect">
            <a:avLst>
              <a:gd name="adj" fmla="val 18000"/>
            </a:avLst>
          </a:prstGeom>
          <a:solidFill>
            <a:srgbClr val="E08C00"/>
          </a:solidFill>
          <a:ln>
            <a:solidFill>
              <a:srgbClr val="E0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14616" y="1691640"/>
            <a:ext cx="1627632" cy="182880"/>
          </a:xfrm>
          <a:prstGeom prst="rect">
            <a:avLst/>
          </a:prstGeom>
          <a:solidFill>
            <a:srgbClr val="E08C00"/>
          </a:solidFill>
          <a:ln>
            <a:solidFill>
              <a:srgbClr val="E0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14616" y="141732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CADCFC"/>
                </a:solidFill>
                <a:latin typeface="Calibri"/>
              </a:rPr>
              <a:t>C5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14616" y="1572768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Qualite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51776" y="2167128"/>
            <a:ext cx="45720" cy="4572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61504" y="205740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Pydantic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51776" y="2578608"/>
            <a:ext cx="45720" cy="4572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61504" y="246888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DLQ topic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51776" y="2990088"/>
            <a:ext cx="45720" cy="45720"/>
          </a:xfrm>
          <a:prstGeom prst="rect">
            <a:avLst/>
          </a:prstGeom>
          <a:solidFill>
            <a:srgbClr val="E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61504" y="288036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B3D"/>
                </a:solidFill>
                <a:latin typeface="Calibri"/>
              </a:rPr>
              <a:t>UPSERT idempotent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09651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DEMO LIVE  -  Bascule sur le dashboard pour montrer le pipeline en action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787"/>
                </a:solidFill>
                <a:latin typeface="Calibri"/>
              </a:rPr>
              <a:t>Sebastien Codron  -  RNCP 38777 Bloc 3  - 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8508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B7787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Synthese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Pipeline production-ready  -  5 competences couvertes  -  evolutif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4023360" cy="2560320"/>
          </a:xfrm>
          <a:prstGeom prst="roundRect">
            <a:avLst>
              <a:gd name="adj" fmla="val 5000"/>
            </a:avLst>
          </a:prstGeom>
          <a:solidFill>
            <a:srgbClr val="222B3D"/>
          </a:solidFill>
          <a:ln w="19050">
            <a:solidFill>
              <a:srgbClr val="14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A085"/>
                </a:solidFill>
                <a:latin typeface="Calibri"/>
              </a:rPr>
              <a:t>Acquis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A085"/>
                </a:solidFill>
                <a:latin typeface="Calibri"/>
              </a:rPr>
              <a:t>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Architecture Kappa cleanement implementee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A085"/>
                </a:solidFill>
                <a:latin typeface="Calibri"/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4144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Streaming Kafka avec 3 topics et DLQ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340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A085"/>
                </a:solidFill>
                <a:latin typeface="Calibri"/>
              </a:rPr>
              <a:t>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3405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Modele ML servi en temps reel via MLflow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A085"/>
                </a:solidFill>
                <a:latin typeface="Calibri"/>
              </a:rP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2666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Persistance Postgres idempotente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192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A085"/>
                </a:solidFill>
                <a:latin typeface="Calibri"/>
              </a:rP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19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Dashboard Streamlit + alerting webhook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A085"/>
                </a:solidFill>
                <a:latin typeface="Calibri"/>
              </a:rP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118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RGPD : pseudonymisation SHA-256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554480"/>
            <a:ext cx="4023360" cy="2560320"/>
          </a:xfrm>
          <a:prstGeom prst="roundRect">
            <a:avLst>
              <a:gd name="adj" fmla="val 5000"/>
            </a:avLst>
          </a:prstGeom>
          <a:solidFill>
            <a:srgbClr val="222B3D"/>
          </a:solidFill>
          <a:ln w="19050">
            <a:solidFill>
              <a:srgbClr val="E0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69164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8C00"/>
                </a:solidFill>
                <a:latin typeface="Calibri"/>
              </a:rPr>
              <a:t>Perspectives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1488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8C00"/>
                </a:solidFill>
                <a:latin typeface="Calibri"/>
              </a:rPr>
              <a:t>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1488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Prometheus + Grafana (monitoring infra)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4414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8C00"/>
                </a:solidFill>
                <a:latin typeface="Calibri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44144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Schema Registry Avro pour les topics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7340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8C00"/>
                </a:solidFill>
                <a:latin typeface="Calibri"/>
              </a:rPr>
              <a:t>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73405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Evidently AI pour la derive du modele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02666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8C00"/>
                </a:solidFill>
                <a:latin typeface="Calibri"/>
              </a:rPr>
              <a:t>-&gt;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02666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Reentrainement automatique periodique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3192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8C00"/>
                </a:solidFill>
                <a:latin typeface="Calibri"/>
              </a:rP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319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Cluster Kafka multi-brokers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3611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8C00"/>
                </a:solidFill>
                <a:latin typeface="Calibri"/>
              </a:rPr>
              <a:t>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6118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Migration vers Kubernetes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97680"/>
            <a:ext cx="8229600" cy="36576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1">
                <a:solidFill>
                  <a:srgbClr val="FFFFFF"/>
                </a:solidFill>
                <a:latin typeface="Calibri"/>
              </a:rPr>
              <a:t>Merci pour votre attention  -  Place aux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B0BACC"/>
                </a:solidFill>
                <a:latin typeface="Calibri"/>
              </a:rPr>
              <a:t>Sebastien Codron  -  RNCP 38777 Bloc 3  -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8508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B0BACC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